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347472" y="1143000"/>
            <a:ext cx="50292" cy="1234440"/>
          </a:xfrm>
          <a:prstGeom prst="rect">
            <a:avLst/>
          </a:prstGeom>
          <a:solidFill>
            <a:srgbClr val="3B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502920" y="1005840"/>
            <a:ext cx="8046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Dobby</a:t>
            </a:r>
            <a:endParaRPr lang="en-US" sz="5600" dirty="0"/>
          </a:p>
        </p:txBody>
      </p:sp>
      <p:sp>
        <p:nvSpPr>
          <p:cNvPr id="5" name="Text 2"/>
          <p:cNvSpPr txBox="1"/>
          <p:nvPr/>
        </p:nvSpPr>
        <p:spPr>
          <a:xfrm>
            <a:off x="502920" y="210312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AI-Powered Swing Trading Platform</a:t>
            </a:r>
            <a:endParaRPr lang="en-US" sz="2000" dirty="0"/>
          </a:p>
        </p:txBody>
      </p:sp>
      <p:sp>
        <p:nvSpPr>
          <p:cNvPr id="6" name="Shape 3"/>
          <p:cNvSpPr/>
          <p:nvPr/>
        </p:nvSpPr>
        <p:spPr>
          <a:xfrm>
            <a:off x="502920" y="2651760"/>
            <a:ext cx="5029200" cy="0"/>
          </a:xfrm>
          <a:prstGeom prst="line">
            <a:avLst/>
          </a:prstGeom>
          <a:noFill/>
          <a:ln w="762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0292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CMU Executive Education  ·  Agentic AI Program  ·  Module 7 Capstone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502920" y="3127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Antonysamy Joseph  · 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9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Challenge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swing trading is time-consuming, emotion-driven, and difficult to scale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4732"/>
            <a:ext cx="402336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847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78408" y="120700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Time-Intensive Research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978408" y="147218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Scanning news, charts, and indicators for dozens of stocks every single day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8424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53412"/>
            <a:ext cx="402336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1534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978408" y="207568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 Overload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78408" y="234086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50+ technical indicators, patterns, and market signals simultaneously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5292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022092"/>
            <a:ext cx="402336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57200" y="30220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😰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78408" y="294436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Emotion-Driven Decisions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978408" y="320954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Fear and greed override systematic rules, leading to inconsistent outcomes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721608"/>
            <a:ext cx="5074920" cy="749808"/>
          </a:xfrm>
          <a:prstGeom prst="roundRect">
            <a:avLst>
              <a:gd name="adj" fmla="val 7317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3890772"/>
            <a:ext cx="402336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8907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978408" y="3813048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Execution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978408" y="4078224"/>
            <a:ext cx="4206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order placement introduces delays, errors, and missed opportunities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69280" y="1115568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0D1526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669280" y="1207008"/>
            <a:ext cx="31546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40+</a:t>
            </a:r>
            <a:endParaRPr lang="en-US" sz="3400" dirty="0"/>
          </a:p>
        </p:txBody>
      </p:sp>
      <p:sp>
        <p:nvSpPr>
          <p:cNvPr id="28" name="Text 26"/>
          <p:cNvSpPr txBox="1"/>
          <p:nvPr/>
        </p:nvSpPr>
        <p:spPr>
          <a:xfrm>
            <a:off x="5669280" y="1708099"/>
            <a:ext cx="315468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Hours/week on research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69280" y="2212848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0D152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5669280" y="2304288"/>
            <a:ext cx="31546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68%</a:t>
            </a:r>
            <a:endParaRPr lang="en-US" sz="3400" dirty="0"/>
          </a:p>
        </p:txBody>
      </p:sp>
      <p:sp>
        <p:nvSpPr>
          <p:cNvPr id="31" name="Text 29"/>
          <p:cNvSpPr txBox="1"/>
          <p:nvPr/>
        </p:nvSpPr>
        <p:spPr>
          <a:xfrm>
            <a:off x="5669280" y="2805379"/>
            <a:ext cx="315468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Trades affected by emotion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5669280" y="3310128"/>
            <a:ext cx="3154680" cy="987552"/>
          </a:xfrm>
          <a:prstGeom prst="roundRect">
            <a:avLst>
              <a:gd name="adj" fmla="val 6481"/>
            </a:avLst>
          </a:prstGeom>
          <a:solidFill>
            <a:srgbClr val="0D15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669280" y="3401568"/>
            <a:ext cx="315468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1,000+</a:t>
            </a:r>
            <a:endParaRPr lang="en-US" sz="3400" dirty="0"/>
          </a:p>
        </p:txBody>
      </p:sp>
      <p:sp>
        <p:nvSpPr>
          <p:cNvPr id="34" name="Text 32"/>
          <p:cNvSpPr txBox="1"/>
          <p:nvPr/>
        </p:nvSpPr>
        <p:spPr>
          <a:xfrm>
            <a:off x="5669280" y="3902659"/>
            <a:ext cx="3154680" cy="34564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signals to monitor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58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Agent Dobby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749808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· Intelligent · Disciplined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2286000" y="1188720"/>
            <a:ext cx="457200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0080" y="1298448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Dobby is a multi-agent AI system that autonomously researches, evaluates, and executes swing trades — applying systematic rules, not gut feelings.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11480" y="2029968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0D1526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527048" y="2176272"/>
            <a:ext cx="475488" cy="4754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527048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2100" dirty="0"/>
          </a:p>
        </p:txBody>
      </p:sp>
      <p:sp>
        <p:nvSpPr>
          <p:cNvPr id="11" name="Text 8"/>
          <p:cNvSpPr txBox="1"/>
          <p:nvPr/>
        </p:nvSpPr>
        <p:spPr>
          <a:xfrm>
            <a:off x="411480" y="27432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Researches</a:t>
            </a:r>
            <a:endParaRPr lang="en-US" sz="2000" dirty="0"/>
          </a:p>
        </p:txBody>
      </p:sp>
      <p:sp>
        <p:nvSpPr>
          <p:cNvPr id="12" name="Text 9"/>
          <p:cNvSpPr txBox="1"/>
          <p:nvPr/>
        </p:nvSpPr>
        <p:spPr>
          <a:xfrm>
            <a:off x="576072" y="3127248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Ingests news via RAG pipeline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Builds semantic context 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ticker being considered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319272" y="2029968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0D152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4434840" y="2176272"/>
            <a:ext cx="475488" cy="4754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4434840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</a:t>
            </a:r>
            <a:endParaRPr lang="en-US" sz="2100" dirty="0"/>
          </a:p>
        </p:txBody>
      </p:sp>
      <p:sp>
        <p:nvSpPr>
          <p:cNvPr id="16" name="Text 13"/>
          <p:cNvSpPr txBox="1"/>
          <p:nvPr/>
        </p:nvSpPr>
        <p:spPr>
          <a:xfrm>
            <a:off x="3319272" y="27432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</a:t>
            </a:r>
            <a:endParaRPr lang="en-US" sz="2000" dirty="0"/>
          </a:p>
        </p:txBody>
      </p:sp>
      <p:sp>
        <p:nvSpPr>
          <p:cNvPr id="17" name="Text 14"/>
          <p:cNvSpPr txBox="1"/>
          <p:nvPr/>
        </p:nvSpPr>
        <p:spPr>
          <a:xfrm>
            <a:off x="3483864" y="3127248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Tree-of-Thought BFS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by sentiment → then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technical conditions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6227064" y="2029968"/>
            <a:ext cx="2724912" cy="2743200"/>
          </a:xfrm>
          <a:prstGeom prst="roundRect">
            <a:avLst>
              <a:gd name="adj" fmla="val 2685"/>
            </a:avLst>
          </a:prstGeom>
          <a:solidFill>
            <a:srgbClr val="0D152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42632" y="2176272"/>
            <a:ext cx="475488" cy="47548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7342632" y="217627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2100" dirty="0"/>
          </a:p>
        </p:txBody>
      </p:sp>
      <p:sp>
        <p:nvSpPr>
          <p:cNvPr id="21" name="Text 18"/>
          <p:cNvSpPr txBox="1"/>
          <p:nvPr/>
        </p:nvSpPr>
        <p:spPr>
          <a:xfrm>
            <a:off x="6227064" y="2743200"/>
            <a:ext cx="27249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Executes</a:t>
            </a:r>
            <a:endParaRPr lang="en-US" sz="2000" dirty="0"/>
          </a:p>
        </p:txBody>
      </p:sp>
      <p:sp>
        <p:nvSpPr>
          <p:cNvPr id="22" name="Text 19"/>
          <p:cNvSpPr txBox="1"/>
          <p:nvPr/>
        </p:nvSpPr>
        <p:spPr>
          <a:xfrm>
            <a:off x="6391656" y="3127248"/>
            <a:ext cx="2395728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approved orders to Alpaca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FIFO trade lifecycle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portfolio continuously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9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Five-layer pipeline from user chat to brokerage execution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70432"/>
            <a:ext cx="1600200" cy="1417320"/>
          </a:xfrm>
          <a:prstGeom prst="roundRect">
            <a:avLst>
              <a:gd name="adj" fmla="val 4516"/>
            </a:avLst>
          </a:prstGeom>
          <a:solidFill>
            <a:srgbClr val="0D1526"/>
          </a:solidFill>
          <a:ln w="25400">
            <a:solidFill>
              <a:srgbClr val="06B6D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Interface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4048" y="1645920"/>
            <a:ext cx="1380744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4320" y="170078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AgentLee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:8800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57400" y="1170432"/>
            <a:ext cx="1600200" cy="1417320"/>
          </a:xfrm>
          <a:prstGeom prst="roundRect">
            <a:avLst>
              <a:gd name="adj" fmla="val 4516"/>
            </a:avLst>
          </a:prstGeom>
          <a:solidFill>
            <a:srgbClr val="0D1526"/>
          </a:solidFill>
          <a:ln w="25400">
            <a:solidFill>
              <a:srgbClr val="3B9E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05740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 Agent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67128" y="1645920"/>
            <a:ext cx="1380744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2057400" y="170078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tools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840480" y="1170432"/>
            <a:ext cx="1600200" cy="1417320"/>
          </a:xfrm>
          <a:prstGeom prst="roundRect">
            <a:avLst>
              <a:gd name="adj" fmla="val 4516"/>
            </a:avLst>
          </a:prstGeom>
          <a:solidFill>
            <a:srgbClr val="0D1526"/>
          </a:solidFill>
          <a:ln w="25400">
            <a:solidFill>
              <a:srgbClr val="A78BF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84048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Mgr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950208" y="1645920"/>
            <a:ext cx="1380744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840480" y="170078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 Agent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623560" y="1170432"/>
            <a:ext cx="1600200" cy="1417320"/>
          </a:xfrm>
          <a:prstGeom prst="roundRect">
            <a:avLst>
              <a:gd name="adj" fmla="val 4516"/>
            </a:avLst>
          </a:prstGeom>
          <a:solidFill>
            <a:srgbClr val="0D1526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62356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Sub-Agents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733288" y="1645920"/>
            <a:ext cx="1380744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23560" y="170078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· BuyEval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406640" y="1170432"/>
            <a:ext cx="1600200" cy="1417320"/>
          </a:xfrm>
          <a:prstGeom prst="roundRect">
            <a:avLst>
              <a:gd name="adj" fmla="val 4516"/>
            </a:avLst>
          </a:prstGeom>
          <a:solidFill>
            <a:srgbClr val="0D152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406640" y="1234440"/>
            <a:ext cx="1600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7516368" y="1645920"/>
            <a:ext cx="1380744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406640" y="1700784"/>
            <a:ext cx="16002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TradeExecutor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Brokerage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1874520" y="1874520"/>
            <a:ext cx="438912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3657600" y="1874520"/>
            <a:ext cx="438912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5440680" y="1874520"/>
            <a:ext cx="438912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7223760" y="1874520"/>
            <a:ext cx="438912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30" name="Text 28"/>
          <p:cNvSpPr txBox="1"/>
          <p:nvPr/>
        </p:nvSpPr>
        <p:spPr>
          <a:xfrm>
            <a:off x="274320" y="2880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LAYER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274320" y="3127248"/>
            <a:ext cx="8595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274320" y="321868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0D1526"/>
          </a:solidFill>
          <a:ln w="12700">
            <a:solidFill>
              <a:srgbClr val="3B9E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74320" y="3273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274320" y="365760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· Holdings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Transactions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2011680" y="321868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0D1526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2011680" y="3273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2011680" y="365760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Embeddings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749040" y="321868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0D1526"/>
          </a:solidFill>
          <a:ln w="12700">
            <a:solidFill>
              <a:srgbClr val="F5A623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749040" y="3273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749040" y="365760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Backtest Cache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486400" y="321868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0D1526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5486400" y="3273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Vantage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5486400" y="365760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OHLCV CSV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Data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7223760" y="3218688"/>
            <a:ext cx="1572768" cy="1572768"/>
          </a:xfrm>
          <a:prstGeom prst="roundRect">
            <a:avLst>
              <a:gd name="adj" fmla="val 3488"/>
            </a:avLst>
          </a:prstGeom>
          <a:solidFill>
            <a:srgbClr val="0D1526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223760" y="3273552"/>
            <a:ext cx="15727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050" dirty="0"/>
          </a:p>
        </p:txBody>
      </p:sp>
      <p:sp>
        <p:nvSpPr>
          <p:cNvPr id="46" name="Text 44"/>
          <p:cNvSpPr txBox="1"/>
          <p:nvPr/>
        </p:nvSpPr>
        <p:spPr>
          <a:xfrm>
            <a:off x="7223760" y="3657600"/>
            <a:ext cx="157276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News Feed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 Ingestion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9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Design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Specialised agents with distinct responsibilities, coordinated by LangGraph state management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115568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0D1526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07008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1243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11480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PortfolioManagerAgent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411480" y="181965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Orchestrates the full trade lifecycle — evaluates holdings, coordinates research and buy evaluation, routes execution orders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172968" y="1115568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0D1526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310128" y="1207008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310128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📰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3767328" y="1243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3310128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ResearchAgent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3310128" y="181965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Queries ChromaDB for relevant news summaries, applies RAG-based sentiment scoring against target tickers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071616" y="1115568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0D152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08776" y="1207008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208776" y="12070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6665976" y="124358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Technician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208776" y="1481328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BuyTechEvaluatorAgent</a:t>
            </a:r>
            <a:endParaRPr lang="en-US" sz="1150" dirty="0"/>
          </a:p>
        </p:txBody>
      </p:sp>
      <p:sp>
        <p:nvSpPr>
          <p:cNvPr id="23" name="Text 21"/>
          <p:cNvSpPr txBox="1"/>
          <p:nvPr/>
        </p:nvSpPr>
        <p:spPr>
          <a:xfrm>
            <a:off x="6208776" y="1819656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Evaluates 50+ technical conditions from the setup registry; applies Level-2 BFS filtering to candidate tickers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581912" y="2999232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0D152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719072" y="3090672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719072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🛡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2176272" y="31272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Monitor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1719072" y="3364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HoldingsEvaluatorAgent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1719072" y="3703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Assesses current open positions in parallel; triggers sell or hold signals based on stop-loss and target conditions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480560" y="2999232"/>
            <a:ext cx="2743200" cy="1719072"/>
          </a:xfrm>
          <a:prstGeom prst="roundRect">
            <a:avLst>
              <a:gd name="adj" fmla="val 4255"/>
            </a:avLst>
          </a:prstGeom>
          <a:solidFill>
            <a:srgbClr val="0D15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17720" y="3090672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617720" y="3090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💬</a:t>
            </a:r>
            <a:endParaRPr lang="en-US" sz="1700" dirty="0"/>
          </a:p>
        </p:txBody>
      </p:sp>
      <p:sp>
        <p:nvSpPr>
          <p:cNvPr id="33" name="Text 31"/>
          <p:cNvSpPr txBox="1"/>
          <p:nvPr/>
        </p:nvSpPr>
        <p:spPr>
          <a:xfrm>
            <a:off x="5074920" y="3127248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4617720" y="3364992"/>
            <a:ext cx="2468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ChatAgent</a:t>
            </a:r>
            <a:endParaRPr lang="en-US" sz="1150" dirty="0"/>
          </a:p>
        </p:txBody>
      </p:sp>
      <p:sp>
        <p:nvSpPr>
          <p:cNvPr id="35" name="Text 33"/>
          <p:cNvSpPr txBox="1"/>
          <p:nvPr/>
        </p:nvSpPr>
        <p:spPr>
          <a:xfrm>
            <a:off x="4617720" y="3703320"/>
            <a:ext cx="2468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ReAct agent handling 18 action types — portfolio queries, backtest requests, watchlist management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9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Tree-of-Thought Decision Engine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 BFS pipeline prunes candidate tickers before any trade is executed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1234440"/>
            <a:ext cx="1600200" cy="1261872"/>
          </a:xfrm>
          <a:prstGeom prst="roundRect">
            <a:avLst>
              <a:gd name="adj" fmla="val 5072"/>
            </a:avLst>
          </a:prstGeom>
          <a:solidFill>
            <a:srgbClr val="0D1526"/>
          </a:solidFill>
          <a:ln w="25400">
            <a:solidFill>
              <a:srgbClr val="334155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74320" y="1234440"/>
            <a:ext cx="160020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1874520" y="1865376"/>
            <a:ext cx="594360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194560" y="1234440"/>
            <a:ext cx="1600200" cy="1261872"/>
          </a:xfrm>
          <a:prstGeom prst="roundRect">
            <a:avLst>
              <a:gd name="adj" fmla="val 5072"/>
            </a:avLst>
          </a:prstGeom>
          <a:solidFill>
            <a:srgbClr val="0D1526"/>
          </a:solidFill>
          <a:ln w="25400">
            <a:solidFill>
              <a:srgbClr val="3B9E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194560" y="1234440"/>
            <a:ext cx="160020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News Sentiment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794760" y="1865376"/>
            <a:ext cx="457200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4114800" y="1234440"/>
            <a:ext cx="1600200" cy="1261872"/>
          </a:xfrm>
          <a:prstGeom prst="roundRect">
            <a:avLst>
              <a:gd name="adj" fmla="val 5072"/>
            </a:avLst>
          </a:prstGeom>
          <a:solidFill>
            <a:srgbClr val="0D1526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0" y="1234440"/>
            <a:ext cx="160020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Prune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Weak Sentiment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715000" y="1865376"/>
            <a:ext cx="457200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5486400" y="1234440"/>
            <a:ext cx="1600200" cy="1261872"/>
          </a:xfrm>
          <a:prstGeom prst="roundRect">
            <a:avLst>
              <a:gd name="adj" fmla="val 5072"/>
            </a:avLst>
          </a:prstGeom>
          <a:solidFill>
            <a:srgbClr val="0D1526"/>
          </a:solidFill>
          <a:ln w="25400">
            <a:solidFill>
              <a:srgbClr val="F5A62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0" y="1234440"/>
            <a:ext cx="160020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Conditions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086600" y="1865376"/>
            <a:ext cx="548640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406640" y="1234440"/>
            <a:ext cx="1600200" cy="1261872"/>
          </a:xfrm>
          <a:prstGeom prst="roundRect">
            <a:avLst>
              <a:gd name="adj" fmla="val 5072"/>
            </a:avLst>
          </a:prstGeom>
          <a:solidFill>
            <a:srgbClr val="0D1526"/>
          </a:solidFill>
          <a:ln w="25400">
            <a:solidFill>
              <a:srgbClr val="22C55E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406640" y="1234440"/>
            <a:ext cx="1600200" cy="1261872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Trades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274320" y="25786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Watchlist + daily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output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194560" y="25786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RAG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news chunks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4114800" y="25786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confidence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removed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5486400" y="25786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conditions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registry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406640" y="2578608"/>
            <a:ext cx="1600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API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FIFO trade match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4320" y="3200400"/>
            <a:ext cx="859536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3364992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292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978408" y="3364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Pruning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78408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poor candidates early, reducing compute and risk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383280" y="3364992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338328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🔄</a:t>
            </a:r>
            <a:endParaRPr lang="en-US" sz="1700" dirty="0"/>
          </a:p>
        </p:txBody>
      </p:sp>
      <p:sp>
        <p:nvSpPr>
          <p:cNvPr id="32" name="Text 30"/>
          <p:cNvSpPr txBox="1"/>
          <p:nvPr/>
        </p:nvSpPr>
        <p:spPr>
          <a:xfrm>
            <a:off x="3858768" y="3364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Two-Level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3858768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Qualitative news filter → quantitative technical filter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263640" y="3364992"/>
            <a:ext cx="384048" cy="384048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263640" y="33649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📋</a:t>
            </a:r>
            <a:endParaRPr lang="en-US" sz="1700" dirty="0"/>
          </a:p>
        </p:txBody>
      </p:sp>
      <p:sp>
        <p:nvSpPr>
          <p:cNvPr id="36" name="Text 34"/>
          <p:cNvSpPr txBox="1"/>
          <p:nvPr/>
        </p:nvSpPr>
        <p:spPr>
          <a:xfrm>
            <a:off x="6739128" y="336499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Registry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739128" y="365760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50+ condition factories — extensible via JSON config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0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47472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RAG-Powered News Intelligence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347472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search connects live market sentiment to every trading decision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347472" y="987552"/>
            <a:ext cx="8449056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320040" y="1170432"/>
            <a:ext cx="1572768" cy="1508760"/>
          </a:xfrm>
          <a:prstGeom prst="roundRect">
            <a:avLst>
              <a:gd name="adj" fmla="val 4242"/>
            </a:avLst>
          </a:prstGeom>
          <a:solidFill>
            <a:srgbClr val="0D1526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886968" y="1243584"/>
            <a:ext cx="420624" cy="42062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886968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1800" dirty="0"/>
          </a:p>
        </p:txBody>
      </p:sp>
      <p:sp>
        <p:nvSpPr>
          <p:cNvPr id="10" name="Text 7"/>
          <p:cNvSpPr txBox="1"/>
          <p:nvPr/>
        </p:nvSpPr>
        <p:spPr>
          <a:xfrm>
            <a:off x="320040" y="1737360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RSS Feeds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1892808" y="1920240"/>
            <a:ext cx="155448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12" name="Shape 9"/>
          <p:cNvSpPr/>
          <p:nvPr/>
        </p:nvSpPr>
        <p:spPr>
          <a:xfrm>
            <a:off x="2057400" y="1170432"/>
            <a:ext cx="1572768" cy="1508760"/>
          </a:xfrm>
          <a:prstGeom prst="roundRect">
            <a:avLst>
              <a:gd name="adj" fmla="val 4242"/>
            </a:avLst>
          </a:prstGeom>
          <a:solidFill>
            <a:srgbClr val="0D1526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624328" y="1243584"/>
            <a:ext cx="420624" cy="42062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2624328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✍️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2057400" y="1737360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Summarise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630168" y="1920240"/>
            <a:ext cx="155448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17" name="Shape 14"/>
          <p:cNvSpPr/>
          <p:nvPr/>
        </p:nvSpPr>
        <p:spPr>
          <a:xfrm>
            <a:off x="3794760" y="1170432"/>
            <a:ext cx="1572768" cy="1508760"/>
          </a:xfrm>
          <a:prstGeom prst="roundRect">
            <a:avLst>
              <a:gd name="adj" fmla="val 4242"/>
            </a:avLst>
          </a:prstGeom>
          <a:solidFill>
            <a:srgbClr val="0D152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361688" y="1243584"/>
            <a:ext cx="420624" cy="42062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4361688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🧮</a:t>
            </a:r>
            <a:endParaRPr lang="en-US" sz="1800" dirty="0"/>
          </a:p>
        </p:txBody>
      </p:sp>
      <p:sp>
        <p:nvSpPr>
          <p:cNvPr id="20" name="Text 17"/>
          <p:cNvSpPr txBox="1"/>
          <p:nvPr/>
        </p:nvSpPr>
        <p:spPr>
          <a:xfrm>
            <a:off x="3794760" y="1737360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Embedding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67528" y="1920240"/>
            <a:ext cx="155448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22" name="Shape 19"/>
          <p:cNvSpPr/>
          <p:nvPr/>
        </p:nvSpPr>
        <p:spPr>
          <a:xfrm>
            <a:off x="5532120" y="1170432"/>
            <a:ext cx="1572768" cy="1508760"/>
          </a:xfrm>
          <a:prstGeom prst="roundRect">
            <a:avLst>
              <a:gd name="adj" fmla="val 4242"/>
            </a:avLst>
          </a:prstGeom>
          <a:solidFill>
            <a:srgbClr val="0D15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6099048" y="1243584"/>
            <a:ext cx="420624" cy="42062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099048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5532120" y="1737360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Vector Store</a:t>
            </a:r>
            <a:endParaRPr lang="en-US" sz="1050" dirty="0"/>
          </a:p>
        </p:txBody>
      </p:sp>
      <p:sp>
        <p:nvSpPr>
          <p:cNvPr id="26" name="Shape 23"/>
          <p:cNvSpPr/>
          <p:nvPr/>
        </p:nvSpPr>
        <p:spPr>
          <a:xfrm>
            <a:off x="7104888" y="1920240"/>
            <a:ext cx="155448" cy="0"/>
          </a:xfrm>
          <a:prstGeom prst="line">
            <a:avLst/>
          </a:prstGeom>
          <a:noFill/>
          <a:ln w="25400">
            <a:solidFill>
              <a:srgbClr val="3B9EFF"/>
            </a:solidFill>
            <a:prstDash val="solid"/>
            <a:tailEnd type="triangle"/>
          </a:ln>
        </p:spPr>
      </p:sp>
      <p:sp>
        <p:nvSpPr>
          <p:cNvPr id="27" name="Shape 24"/>
          <p:cNvSpPr/>
          <p:nvPr/>
        </p:nvSpPr>
        <p:spPr>
          <a:xfrm>
            <a:off x="7269480" y="1170432"/>
            <a:ext cx="1572768" cy="1508760"/>
          </a:xfrm>
          <a:prstGeom prst="roundRect">
            <a:avLst>
              <a:gd name="adj" fmla="val 4242"/>
            </a:avLst>
          </a:prstGeom>
          <a:solidFill>
            <a:srgbClr val="0D152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836408" y="1243584"/>
            <a:ext cx="420624" cy="420624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836408" y="12435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</a:t>
            </a:r>
            <a:endParaRPr lang="en-US" sz="1800" dirty="0"/>
          </a:p>
        </p:txBody>
      </p:sp>
      <p:sp>
        <p:nvSpPr>
          <p:cNvPr id="30" name="Text 27"/>
          <p:cNvSpPr txBox="1"/>
          <p:nvPr/>
        </p:nvSpPr>
        <p:spPr>
          <a:xfrm>
            <a:off x="7269480" y="1737360"/>
            <a:ext cx="1572768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 Semantic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</a:t>
            </a:r>
            <a:endParaRPr lang="en-US" sz="1050" dirty="0"/>
          </a:p>
        </p:txBody>
      </p:sp>
      <p:sp>
        <p:nvSpPr>
          <p:cNvPr id="31" name="Shape 28"/>
          <p:cNvSpPr/>
          <p:nvPr/>
        </p:nvSpPr>
        <p:spPr>
          <a:xfrm>
            <a:off x="320040" y="2834640"/>
            <a:ext cx="850392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320040" y="294436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3×/day</a:t>
            </a:r>
            <a:endParaRPr lang="en-US" sz="2600" dirty="0"/>
          </a:p>
        </p:txBody>
      </p:sp>
      <p:sp>
        <p:nvSpPr>
          <p:cNvPr id="33" name="Text 30"/>
          <p:cNvSpPr txBox="1"/>
          <p:nvPr/>
        </p:nvSpPr>
        <p:spPr>
          <a:xfrm>
            <a:off x="320040" y="340156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Ingestion schedule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(7AM · 12PM · 8PM ET)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2496312" y="294436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Top-5</a:t>
            </a:r>
            <a:endParaRPr lang="en-US" sz="2600" dirty="0"/>
          </a:p>
        </p:txBody>
      </p:sp>
      <p:sp>
        <p:nvSpPr>
          <p:cNvPr id="35" name="Text 32"/>
          <p:cNvSpPr txBox="1"/>
          <p:nvPr/>
        </p:nvSpPr>
        <p:spPr>
          <a:xfrm>
            <a:off x="2496312" y="340156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Chunks retrieved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semantic query</a:t>
            </a:r>
            <a:endParaRPr lang="en-US" sz="1000" dirty="0"/>
          </a:p>
        </p:txBody>
      </p:sp>
      <p:sp>
        <p:nvSpPr>
          <p:cNvPr id="36" name="Text 33"/>
          <p:cNvSpPr txBox="1"/>
          <p:nvPr/>
        </p:nvSpPr>
        <p:spPr>
          <a:xfrm>
            <a:off x="4672584" y="294436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2600" dirty="0"/>
          </a:p>
        </p:txBody>
      </p:sp>
      <p:sp>
        <p:nvSpPr>
          <p:cNvPr id="37" name="Text 34"/>
          <p:cNvSpPr txBox="1"/>
          <p:nvPr/>
        </p:nvSpPr>
        <p:spPr>
          <a:xfrm>
            <a:off x="4672584" y="340156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 — no cloud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dependency or cost</a:t>
            </a:r>
            <a:endParaRPr lang="en-US" sz="1000" dirty="0"/>
          </a:p>
        </p:txBody>
      </p:sp>
      <p:sp>
        <p:nvSpPr>
          <p:cNvPr id="38" name="Text 35"/>
          <p:cNvSpPr txBox="1"/>
          <p:nvPr/>
        </p:nvSpPr>
        <p:spPr>
          <a:xfrm>
            <a:off x="6848856" y="2944368"/>
            <a:ext cx="208483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Haiku</a:t>
            </a:r>
            <a:endParaRPr lang="en-US" sz="2600" dirty="0"/>
          </a:p>
        </p:txBody>
      </p:sp>
      <p:sp>
        <p:nvSpPr>
          <p:cNvPr id="39" name="Text 36"/>
          <p:cNvSpPr txBox="1"/>
          <p:nvPr/>
        </p:nvSpPr>
        <p:spPr>
          <a:xfrm>
            <a:off x="6848856" y="3401568"/>
            <a:ext cx="20848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Haiku used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cost-efficient summaries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9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Nine-Level Safety Guardrails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Safety-first architecture — multiple independent safeguards before any capital is deployed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271016"/>
            <a:ext cx="438912" cy="402336"/>
          </a:xfrm>
          <a:prstGeom prst="roundRect">
            <a:avLst>
              <a:gd name="adj" fmla="val 9091"/>
            </a:avLst>
          </a:prstGeom>
          <a:solidFill>
            <a:srgbClr val="3B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11480" y="127101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941832" y="1225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Review Gate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941832" y="1490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logic reviewed before deployment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192024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048256"/>
            <a:ext cx="438912" cy="402336"/>
          </a:xfrm>
          <a:prstGeom prst="roundRect">
            <a:avLst>
              <a:gd name="adj" fmla="val 9091"/>
            </a:avLst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11480" y="20482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941832" y="2002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Switching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" y="2267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 models for API failures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6974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2825496"/>
            <a:ext cx="438912" cy="402336"/>
          </a:xfrm>
          <a:prstGeom prst="roundRect">
            <a:avLst>
              <a:gd name="adj" fmla="val 9091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411480" y="282549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941832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Paper Trading Mode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941832" y="3044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 before live execution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0040" y="347472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" y="3602736"/>
            <a:ext cx="438912" cy="402336"/>
          </a:xfrm>
          <a:prstGeom prst="roundRect">
            <a:avLst>
              <a:gd name="adj" fmla="val 9091"/>
            </a:avLst>
          </a:prstGeom>
          <a:solidFill>
            <a:srgbClr val="3B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11480" y="360273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941832" y="35570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Prompt Bounds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941832" y="3822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scope constrained by design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25196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11480" y="4379976"/>
            <a:ext cx="438912" cy="402336"/>
          </a:xfrm>
          <a:prstGeom prst="roundRect">
            <a:avLst>
              <a:gd name="adj" fmla="val 9091"/>
            </a:avLst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11480" y="437997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941832" y="43342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Evaluation</a:t>
            </a:r>
            <a:endParaRPr lang="en-US" sz="1200" dirty="0"/>
          </a:p>
        </p:txBody>
      </p:sp>
      <p:sp>
        <p:nvSpPr>
          <p:cNvPr id="30" name="Text 28"/>
          <p:cNvSpPr txBox="1"/>
          <p:nvPr/>
        </p:nvSpPr>
        <p:spPr>
          <a:xfrm>
            <a:off x="941832" y="459943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threshold before Level 2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114300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846320" y="1271016"/>
            <a:ext cx="438912" cy="402336"/>
          </a:xfrm>
          <a:prstGeom prst="roundRect">
            <a:avLst>
              <a:gd name="adj" fmla="val 9091"/>
            </a:avLst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46320" y="127101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5376672" y="122529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Back-Tested Setups Only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5376672" y="14904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statistically validated setups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4754880" y="192024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846320" y="2048256"/>
            <a:ext cx="438912" cy="402336"/>
          </a:xfrm>
          <a:prstGeom prst="roundRect">
            <a:avLst>
              <a:gd name="adj" fmla="val 9091"/>
            </a:avLst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846320" y="204825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5376672" y="200253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Constraints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5376672" y="226771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position size and cash limits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754880" y="269748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4846320" y="2825496"/>
            <a:ext cx="438912" cy="402336"/>
          </a:xfrm>
          <a:prstGeom prst="roundRect">
            <a:avLst>
              <a:gd name="adj" fmla="val 9091"/>
            </a:avLst>
          </a:prstGeom>
          <a:solidFill>
            <a:srgbClr val="EF44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846320" y="282549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5376672" y="277977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5376672" y="304495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approval gate for large trades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474720"/>
            <a:ext cx="4160520" cy="658368"/>
          </a:xfrm>
          <a:prstGeom prst="roundRect">
            <a:avLst>
              <a:gd name="adj" fmla="val 8333"/>
            </a:avLst>
          </a:prstGeom>
          <a:solidFill>
            <a:srgbClr val="0D1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846320" y="3602736"/>
            <a:ext cx="438912" cy="402336"/>
          </a:xfrm>
          <a:prstGeom prst="roundRect">
            <a:avLst>
              <a:gd name="adj" fmla="val 9091"/>
            </a:avLst>
          </a:prstGeom>
          <a:solidFill>
            <a:srgbClr val="06B6D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4846320" y="3602736"/>
            <a:ext cx="43891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100" dirty="0"/>
          </a:p>
        </p:txBody>
      </p:sp>
      <p:sp>
        <p:nvSpPr>
          <p:cNvPr id="49" name="Text 47"/>
          <p:cNvSpPr txBox="1"/>
          <p:nvPr/>
        </p:nvSpPr>
        <p:spPr>
          <a:xfrm>
            <a:off x="5376672" y="355701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&amp; Recovery</a:t>
            </a:r>
            <a:endParaRPr lang="en-US" sz="1200" dirty="0"/>
          </a:p>
        </p:txBody>
      </p:sp>
      <p:sp>
        <p:nvSpPr>
          <p:cNvPr id="50" name="Text 48"/>
          <p:cNvSpPr txBox="1"/>
          <p:nvPr/>
        </p:nvSpPr>
        <p:spPr>
          <a:xfrm>
            <a:off x="5376672" y="382219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 + failure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9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Production-grade tools, fully open-source where possible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15568"/>
            <a:ext cx="4160520" cy="1810512"/>
          </a:xfrm>
          <a:prstGeom prst="roundRect">
            <a:avLst>
              <a:gd name="adj" fmla="val 3535"/>
            </a:avLst>
          </a:prstGeom>
          <a:solidFill>
            <a:srgbClr val="0D1526"/>
          </a:solidFill>
          <a:ln w="19050">
            <a:solidFill>
              <a:srgbClr val="A78BF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2070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1591056"/>
            <a:ext cx="37490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21208" y="1728216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166420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21208" y="1970532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" y="190652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21208" y="2212848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21488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(Anthropic)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21208" y="2455164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239115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all-MiniLM-L6-v2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21208" y="2697480"/>
            <a:ext cx="73152" cy="73152"/>
          </a:xfrm>
          <a:prstGeom prst="ellipse">
            <a:avLst/>
          </a:prstGeom>
          <a:solidFill>
            <a:srgbClr val="A78BF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85800" y="2633472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ChromaDB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54880" y="1115568"/>
            <a:ext cx="4160520" cy="1810512"/>
          </a:xfrm>
          <a:prstGeom prst="roundRect">
            <a:avLst>
              <a:gd name="adj" fmla="val 3535"/>
            </a:avLst>
          </a:prstGeom>
          <a:solidFill>
            <a:srgbClr val="0D1526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120700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892040" y="1591056"/>
            <a:ext cx="37490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956048" y="1728216"/>
            <a:ext cx="73152" cy="73152"/>
          </a:xfrm>
          <a:prstGeom prst="ellipse">
            <a:avLst/>
          </a:prstGeom>
          <a:solidFill>
            <a:srgbClr val="3B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120640" y="166420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56048" y="1970532"/>
            <a:ext cx="73152" cy="73152"/>
          </a:xfrm>
          <a:prstGeom prst="ellipse">
            <a:avLst/>
          </a:prstGeom>
          <a:solidFill>
            <a:srgbClr val="3B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120640" y="190652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SQLAlchemy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956048" y="2212848"/>
            <a:ext cx="73152" cy="73152"/>
          </a:xfrm>
          <a:prstGeom prst="ellipse">
            <a:avLst/>
          </a:prstGeom>
          <a:solidFill>
            <a:srgbClr val="3B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20640" y="214884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APScheduler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56048" y="2455164"/>
            <a:ext cx="73152" cy="73152"/>
          </a:xfrm>
          <a:prstGeom prst="ellipse">
            <a:avLst/>
          </a:prstGeom>
          <a:solidFill>
            <a:srgbClr val="3B9E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120640" y="239115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3.11+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3081528"/>
            <a:ext cx="4160520" cy="1810512"/>
          </a:xfrm>
          <a:prstGeom prst="roundRect">
            <a:avLst>
              <a:gd name="adj" fmla="val 3535"/>
            </a:avLst>
          </a:prstGeom>
          <a:solidFill>
            <a:srgbClr val="0D152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57200" y="31729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457200" y="3557016"/>
            <a:ext cx="37490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21208" y="3694176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85800" y="36301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1208" y="3936492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" y="387248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521208" y="4178808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85800" y="41148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Vantage API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521208" y="4421124"/>
            <a:ext cx="73152" cy="73152"/>
          </a:xfrm>
          <a:prstGeom prst="ellipse">
            <a:avLst/>
          </a:prstGeom>
          <a:solidFill>
            <a:srgbClr val="F5A62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85800" y="435711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Yahoo Finance RSS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754880" y="3081528"/>
            <a:ext cx="4160520" cy="1810512"/>
          </a:xfrm>
          <a:prstGeom prst="roundRect">
            <a:avLst>
              <a:gd name="adj" fmla="val 3535"/>
            </a:avLst>
          </a:prstGeom>
          <a:solidFill>
            <a:srgbClr val="0D152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4892040" y="3172968"/>
            <a:ext cx="3886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Brokerage &amp; UI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4892040" y="3557016"/>
            <a:ext cx="3749040" cy="0"/>
          </a:xfrm>
          <a:prstGeom prst="line">
            <a:avLst/>
          </a:prstGeom>
          <a:noFill/>
          <a:ln w="6350">
            <a:solidFill>
              <a:srgbClr val="33415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956048" y="3694176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5120640" y="3630168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Alpaca Markets API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4956048" y="3936492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5120640" y="3872484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Vite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4956048" y="4178808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5120640" y="4114800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pptxgenjs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956048" y="4421124"/>
            <a:ext cx="73152" cy="73152"/>
          </a:xfrm>
          <a:prstGeom prst="ellipse">
            <a:avLst/>
          </a:prstGeom>
          <a:solidFill>
            <a:srgbClr val="22C55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20640" y="4357116"/>
            <a:ext cx="3611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reportlab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>
              <a:alpha val="65000"/>
            </a:srgbClr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3200400" y="8229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72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1783080"/>
            <a:ext cx="8229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52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2670048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Dobby in action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5091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47472" y="137160"/>
            <a:ext cx="8412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Next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347472" y="658368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 to move Agent Dobby from local prototype to production platform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47472" y="987552"/>
            <a:ext cx="8449056" cy="0"/>
          </a:xfrm>
          <a:prstGeom prst="line">
            <a:avLst/>
          </a:prstGeom>
          <a:noFill/>
          <a:ln w="6350">
            <a:solidFill>
              <a:srgbClr val="1E3A5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4160520" cy="1755648"/>
          </a:xfrm>
          <a:prstGeom prst="roundRect">
            <a:avLst>
              <a:gd name="adj" fmla="val 4167"/>
            </a:avLst>
          </a:prstGeom>
          <a:solidFill>
            <a:srgbClr val="0D1526"/>
          </a:solidFill>
          <a:ln w="19050">
            <a:solidFill>
              <a:srgbClr val="3B9E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280160"/>
            <a:ext cx="402336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720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👤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960120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9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737360"/>
            <a:ext cx="374904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57200" y="18288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notification + approval workflow for high-value trades before execution, enabling human oversight without breaking automation.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143000"/>
            <a:ext cx="4160520" cy="1755648"/>
          </a:xfrm>
          <a:prstGeom prst="roundRect">
            <a:avLst>
              <a:gd name="adj" fmla="val 4167"/>
            </a:avLst>
          </a:prstGeom>
          <a:solidFill>
            <a:srgbClr val="0D1526"/>
          </a:solidFill>
          <a:ln w="19050">
            <a:solidFill>
              <a:srgbClr val="06B6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892040" y="1280160"/>
            <a:ext cx="402336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12801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☁️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5394960" y="128016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Cloud Deployment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892040" y="1737360"/>
            <a:ext cx="374904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82880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Containerise agents with Docker, deploy to ECS/Fargate, add RDS for PostgreSQL, and CloudWatch for monitoring and alerting.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3063240"/>
            <a:ext cx="4160520" cy="1755648"/>
          </a:xfrm>
          <a:prstGeom prst="roundRect">
            <a:avLst>
              <a:gd name="adj" fmla="val 4167"/>
            </a:avLst>
          </a:prstGeom>
          <a:solidFill>
            <a:srgbClr val="0D1526"/>
          </a:solidFill>
          <a:ln w="19050">
            <a:solidFill>
              <a:srgbClr val="F5A62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7200" y="3200400"/>
            <a:ext cx="402336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5720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960120" y="32004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Multi-Strategy Support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657600"/>
            <a:ext cx="374904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37490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beyond swing trading — scalping, momentum, and mean-reversion strategies configurable via the setup registry.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754880" y="3063240"/>
            <a:ext cx="4160520" cy="1755648"/>
          </a:xfrm>
          <a:prstGeom prst="roundRect">
            <a:avLst>
              <a:gd name="adj" fmla="val 4167"/>
            </a:avLst>
          </a:prstGeom>
          <a:solidFill>
            <a:srgbClr val="0D1526"/>
          </a:solidFill>
          <a:ln w="19050">
            <a:solidFill>
              <a:srgbClr val="22C55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92040" y="3200400"/>
            <a:ext cx="402336" cy="402336"/>
          </a:xfrm>
          <a:prstGeom prst="ellipse">
            <a:avLst/>
          </a:prstGeom>
          <a:solidFill>
            <a:srgbClr val="1E29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892040" y="320040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 txBox="1"/>
          <p:nvPr/>
        </p:nvSpPr>
        <p:spPr>
          <a:xfrm>
            <a:off x="5394960" y="320040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Optimisation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892040" y="3657600"/>
            <a:ext cx="3749040" cy="0"/>
          </a:xfrm>
          <a:prstGeom prst="line">
            <a:avLst/>
          </a:prstGeom>
          <a:noFill/>
          <a:ln w="5080">
            <a:solidFill>
              <a:srgbClr val="33415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892040" y="374904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Modern Portfolio Theory — dynamic position sizing, correlation-aware allocation, and drawdown-constrained rebalancing.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 Dobby — CMU Capstone</dc:title>
  <dc:subject>Agentic AI Swing Trading Platform</dc:subject>
  <dc:creator>Antonysamy Joseph</dc:creator>
  <cp:lastModifiedBy>Antonysamy Joseph</cp:lastModifiedBy>
  <cp:revision>1</cp:revision>
  <dcterms:created xsi:type="dcterms:W3CDTF">2026-09-06T12:39:19Z</dcterms:created>
  <dcterms:modified xsi:type="dcterms:W3CDTF">2026-09-06T12:39:19Z</dcterms:modified>
</cp:coreProperties>
</file>